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73" r:id="rId3"/>
    <p:sldId id="274" r:id="rId4"/>
    <p:sldId id="258" r:id="rId5"/>
    <p:sldId id="259" r:id="rId6"/>
    <p:sldId id="260" r:id="rId7"/>
    <p:sldId id="270" r:id="rId8"/>
    <p:sldId id="261" r:id="rId9"/>
    <p:sldId id="262" r:id="rId10"/>
    <p:sldId id="264" r:id="rId11"/>
    <p:sldId id="268" r:id="rId12"/>
    <p:sldId id="263" r:id="rId13"/>
    <p:sldId id="269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41" autoAdjust="0"/>
    <p:restoredTop sz="94660"/>
  </p:normalViewPr>
  <p:slideViewPr>
    <p:cSldViewPr>
      <p:cViewPr varScale="1">
        <p:scale>
          <a:sx n="65" d="100"/>
          <a:sy n="65" d="100"/>
        </p:scale>
        <p:origin x="-97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B30FE-59B0-4436-A9BB-6640CBFF651B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41D4D-5348-4935-B6B0-1B24E96D4C5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7896A26-FECE-46AB-80BD-1AAED465305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07BC7-39FB-4680-86A1-32A13AA1818C}" type="datetimeFigureOut">
              <a:rPr lang="zh-CN" altLang="en-US" smtClean="0"/>
              <a:pPr/>
              <a:t>2017/11/20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54969-80BC-4AA3-994D-6020539163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371475" y="715963"/>
            <a:ext cx="554990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</a:pPr>
            <a:r>
              <a:rPr lang="en-US" altLang="zh-CN" sz="4400" dirty="0">
                <a:solidFill>
                  <a:srgbClr val="000099"/>
                </a:solidFill>
                <a:latin typeface="Gill Sans MT" charset="0"/>
                <a:cs typeface="Arial" pitchFamily="34" charset="0"/>
              </a:rPr>
              <a:t>Chapter </a:t>
            </a:r>
            <a:r>
              <a:rPr lang="en-US" altLang="zh-CN" sz="4400" dirty="0" smtClean="0">
                <a:solidFill>
                  <a:srgbClr val="000099"/>
                </a:solidFill>
                <a:latin typeface="Gill Sans MT" charset="0"/>
                <a:cs typeface="Arial" pitchFamily="34" charset="0"/>
              </a:rPr>
              <a:t>7 </a:t>
            </a:r>
            <a:r>
              <a:rPr lang="en-US" altLang="zh-CN" sz="4800" dirty="0">
                <a:solidFill>
                  <a:srgbClr val="000099"/>
                </a:solidFill>
                <a:latin typeface="Gill Sans MT" charset="0"/>
                <a:cs typeface="Arial" pitchFamily="34" charset="0"/>
              </a:rPr>
              <a:t/>
            </a:r>
            <a:br>
              <a:rPr lang="en-US" altLang="zh-CN" sz="4800" dirty="0">
                <a:solidFill>
                  <a:srgbClr val="000099"/>
                </a:solidFill>
                <a:latin typeface="Gill Sans MT" charset="0"/>
                <a:cs typeface="Arial" pitchFamily="34" charset="0"/>
              </a:rPr>
            </a:br>
            <a:r>
              <a:rPr lang="en-US" altLang="zh-CN" sz="3600" dirty="0" smtClean="0">
                <a:solidFill>
                  <a:srgbClr val="000099"/>
                </a:solidFill>
                <a:latin typeface="Gill Sans MT" charset="0"/>
                <a:cs typeface="Arial" pitchFamily="34" charset="0"/>
              </a:rPr>
              <a:t>Multimedia Networking</a:t>
            </a:r>
            <a:endParaRPr lang="en-US" altLang="zh-CN" sz="3600" dirty="0">
              <a:solidFill>
                <a:srgbClr val="000099"/>
              </a:solidFill>
              <a:latin typeface="Gill Sans MT" charset="0"/>
              <a:cs typeface="Arial" pitchFamily="34" charset="0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6184900" y="3078163"/>
            <a:ext cx="2881313" cy="286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eaLnBrk="1" hangingPunct="1">
              <a:lnSpc>
                <a:spcPct val="85000"/>
              </a:lnSpc>
              <a:defRPr/>
            </a:pPr>
            <a:r>
              <a:rPr lang="en-US" sz="28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Computer Networking: A Top Down Approach </a:t>
            </a:r>
            <a:br>
              <a:rPr lang="en-US" sz="28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</a:br>
            <a: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6</a:t>
            </a:r>
            <a:r>
              <a:rPr lang="en-US" sz="2000" baseline="30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th</a:t>
            </a:r>
            <a: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 edition </a:t>
            </a:r>
            <a:b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</a:br>
            <a: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Jim Kurose, Keith Ross</a:t>
            </a:r>
            <a:b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</a:br>
            <a: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Addison-Wesley</a:t>
            </a:r>
            <a:b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</a:br>
            <a:r>
              <a:rPr lang="en-US" sz="2000" dirty="0">
                <a:solidFill>
                  <a:srgbClr val="008000"/>
                </a:solidFill>
                <a:latin typeface="Gill Sans MT" charset="0"/>
                <a:ea typeface="ＭＳ Ｐゴシック" charset="0"/>
                <a:cs typeface="Arial" charset="0"/>
              </a:rPr>
              <a:t>March 2012</a:t>
            </a:r>
          </a:p>
        </p:txBody>
      </p:sp>
      <p:sp>
        <p:nvSpPr>
          <p:cNvPr id="8199" name="Text Box 6"/>
          <p:cNvSpPr txBox="1">
            <a:spLocks noChangeArrowheads="1"/>
          </p:cNvSpPr>
          <p:nvPr/>
        </p:nvSpPr>
        <p:spPr bwMode="auto">
          <a:xfrm>
            <a:off x="369888" y="3268663"/>
            <a:ext cx="5378450" cy="148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0">
                <a:latin typeface="Arial" pitchFamily="34" charset="0"/>
                <a:cs typeface="Arial" pitchFamily="34" charset="0"/>
              </a:rPr>
              <a:t>A note on the use of these ppt slides:</a:t>
            </a:r>
          </a:p>
          <a:p>
            <a:r>
              <a:rPr lang="en-US" altLang="zh-CN" sz="1200" i="0">
                <a:latin typeface="Arial" pitchFamily="34" charset="0"/>
                <a:cs typeface="Arial" pitchFamily="34" charset="0"/>
              </a:rPr>
              <a:t>We</a:t>
            </a:r>
            <a:r>
              <a:rPr lang="ja-JP" altLang="en-US" sz="1200" i="0">
                <a:latin typeface="Arial" pitchFamily="34" charset="0"/>
                <a:cs typeface="Arial" pitchFamily="34" charset="0"/>
              </a:rPr>
              <a:t>’</a:t>
            </a:r>
            <a:r>
              <a:rPr lang="en-US" altLang="ja-JP" sz="1200" i="0">
                <a:latin typeface="Arial" pitchFamily="34" charset="0"/>
                <a:cs typeface="Arial" pitchFamily="34" charset="0"/>
              </a:rPr>
              <a:t>re making these slides freely available to all (faculty, students, readers). They</a:t>
            </a:r>
            <a:r>
              <a:rPr lang="ja-JP" altLang="en-US" sz="1200" i="0">
                <a:latin typeface="Arial" pitchFamily="34" charset="0"/>
                <a:cs typeface="Arial" pitchFamily="34" charset="0"/>
              </a:rPr>
              <a:t>’</a:t>
            </a:r>
            <a:r>
              <a:rPr lang="en-US" altLang="ja-JP" sz="1200" i="0">
                <a:latin typeface="Arial" pitchFamily="34" charset="0"/>
                <a:cs typeface="Arial" pitchFamily="34" charset="0"/>
              </a:rPr>
              <a:t>re in PowerPoint form so you see the animations; and can add, modify, and delete slides  (including this one) and slide content to suit your needs. They obviously represent a lot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zh-CN" sz="1400">
              <a:latin typeface="Arial" pitchFamily="34" charset="0"/>
              <a:cs typeface="Arial" pitchFamily="34" charset="0"/>
            </a:endParaRPr>
          </a:p>
        </p:txBody>
      </p:sp>
      <p:sp>
        <p:nvSpPr>
          <p:cNvPr id="8200" name="Text Box 7"/>
          <p:cNvSpPr txBox="1">
            <a:spLocks noChangeArrowheads="1"/>
          </p:cNvSpPr>
          <p:nvPr/>
        </p:nvSpPr>
        <p:spPr bwMode="auto">
          <a:xfrm>
            <a:off x="373063" y="4267200"/>
            <a:ext cx="5378450" cy="201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73038" indent="-173038">
              <a:lnSpc>
                <a:spcPct val="85000"/>
              </a:lnSpc>
            </a:pPr>
            <a:endParaRPr lang="en-US" altLang="zh-CN" sz="1400" i="0">
              <a:latin typeface="Gill Sans MT" charset="0"/>
              <a:cs typeface="Arial" pitchFamily="34" charset="0"/>
            </a:endParaRPr>
          </a:p>
          <a:p>
            <a:pPr marL="173038" indent="-173038"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zh-CN" sz="1200" i="0">
                <a:latin typeface="Arial" pitchFamily="34" charset="0"/>
                <a:cs typeface="Arial" pitchFamily="34" charset="0"/>
              </a:rPr>
              <a:t>If you use these slides (e.g., in a class) that you mention their source (after all, we</a:t>
            </a:r>
            <a:r>
              <a:rPr lang="ja-JP" altLang="en-US" sz="1200" i="0">
                <a:latin typeface="Arial" pitchFamily="34" charset="0"/>
                <a:cs typeface="Arial" pitchFamily="34" charset="0"/>
              </a:rPr>
              <a:t>’</a:t>
            </a:r>
            <a:r>
              <a:rPr lang="en-US" altLang="ja-JP" sz="1200" i="0">
                <a:latin typeface="Arial" pitchFamily="34" charset="0"/>
                <a:cs typeface="Arial" pitchFamily="34" charset="0"/>
              </a:rPr>
              <a:t>d like people to use our book!)</a:t>
            </a:r>
          </a:p>
          <a:p>
            <a:pPr marL="173038" indent="-173038">
              <a:buClr>
                <a:srgbClr val="000099"/>
              </a:buClr>
              <a:buSzPct val="75000"/>
              <a:buFont typeface="Wingdings" pitchFamily="2" charset="2"/>
              <a:buChar char="v"/>
            </a:pPr>
            <a:r>
              <a:rPr lang="en-US" altLang="zh-CN" sz="1200" i="0">
                <a:latin typeface="Arial" pitchFamily="34" charset="0"/>
                <a:cs typeface="Arial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 marL="173038" indent="-173038">
              <a:buClr>
                <a:schemeClr val="accent2"/>
              </a:buClr>
              <a:buFont typeface="Wingdings" pitchFamily="2" charset="2"/>
              <a:buChar char="q"/>
            </a:pPr>
            <a:endParaRPr lang="en-US" altLang="zh-CN" sz="1200" i="0">
              <a:latin typeface="Arial" pitchFamily="34" charset="0"/>
              <a:cs typeface="Arial" pitchFamily="34" charset="0"/>
            </a:endParaRPr>
          </a:p>
          <a:p>
            <a:pPr marL="173038" indent="-173038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zh-CN" sz="1200" i="0">
                <a:latin typeface="Arial" pitchFamily="34" charset="0"/>
                <a:cs typeface="Arial" pitchFamily="34" charset="0"/>
              </a:rPr>
              <a:t>Thanks and enjoy!  JFK/KWR</a:t>
            </a:r>
          </a:p>
          <a:p>
            <a:pPr marL="173038" indent="-173038">
              <a:lnSpc>
                <a:spcPct val="85000"/>
              </a:lnSpc>
            </a:pPr>
            <a:endParaRPr lang="en-US" altLang="zh-CN" sz="1200" i="0">
              <a:latin typeface="Arial" pitchFamily="34" charset="0"/>
              <a:cs typeface="Arial" pitchFamily="34" charset="0"/>
            </a:endParaRPr>
          </a:p>
          <a:p>
            <a:pPr marL="173038" indent="-173038">
              <a:lnSpc>
                <a:spcPct val="85000"/>
              </a:lnSpc>
            </a:pPr>
            <a:r>
              <a:rPr lang="en-US" altLang="zh-CN" sz="1200" i="0">
                <a:latin typeface="Arial" pitchFamily="34" charset="0"/>
                <a:cs typeface="Arial" pitchFamily="34" charset="0"/>
              </a:rPr>
              <a:t>     All material copyright 1996-2012</a:t>
            </a:r>
          </a:p>
          <a:p>
            <a:pPr marL="173038" indent="-173038">
              <a:lnSpc>
                <a:spcPct val="85000"/>
              </a:lnSpc>
            </a:pPr>
            <a:r>
              <a:rPr lang="en-US" altLang="zh-CN" sz="1200" i="0">
                <a:latin typeface="Arial" pitchFamily="34" charset="0"/>
                <a:cs typeface="Arial" pitchFamily="34" charset="0"/>
              </a:rPr>
              <a:t>     J.F Kurose and K.W. Ross, All Rights Reserved</a:t>
            </a:r>
          </a:p>
        </p:txBody>
      </p:sp>
      <p:pic>
        <p:nvPicPr>
          <p:cNvPr id="820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600" y="5942013"/>
            <a:ext cx="187325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15366" name="Picture 9" descr="underline_base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2438" y="2097088"/>
            <a:ext cx="493395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1" descr="6e_cover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15074" y="357166"/>
            <a:ext cx="2306638" cy="277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8" name="TextBox 2"/>
          <p:cNvSpPr txBox="1">
            <a:spLocks noChangeArrowheads="1"/>
          </p:cNvSpPr>
          <p:nvPr/>
        </p:nvSpPr>
        <p:spPr bwMode="auto">
          <a:xfrm>
            <a:off x="-1995488" y="3043238"/>
            <a:ext cx="1841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 sz="1600">
              <a:latin typeface="Tahoma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>
              <a:defRPr/>
            </a:pPr>
            <a:r>
              <a:rPr lang="en-US"/>
              <a:t>Multmedia Networking</a:t>
            </a:r>
          </a:p>
        </p:txBody>
      </p:sp>
      <p:sp>
        <p:nvSpPr>
          <p:cNvPr id="1537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altLang="zh-CN"/>
              <a:t>7-</a:t>
            </a:r>
            <a:fld id="{46EB89AC-809D-4F2A-8A9E-07EF3981A5FF}" type="slidenum">
              <a:rPr lang="en-US" altLang="zh-CN"/>
              <a:pPr/>
              <a:t>1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>
                <a:latin typeface="Times New Roman" pitchFamily="18" charset="0"/>
                <a:ea typeface="楷体_GB2312" pitchFamily="49" charset="-122"/>
              </a:rPr>
              <a:t>什么是多媒体应用？</a:t>
            </a:r>
            <a:endParaRPr lang="zh-CN" altLang="en-US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500174"/>
            <a:ext cx="8353425" cy="471490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离散的媒体：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指时间独立的媒体，它们不包含任何时间因素，如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文本、图片等。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连续的媒体：</a:t>
            </a:r>
          </a:p>
          <a:p>
            <a:pPr lvl="1">
              <a:lnSpc>
                <a:spcPct val="12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指时间依赖的媒体，它们包含的信息必须随着时间的流动才能显现出来，如音乐和电影。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多媒体应用至少必须包含一种连续的媒体，而连续媒体通常就是指音频或视频</a:t>
            </a:r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。</a:t>
            </a:r>
            <a:endParaRPr lang="en-US" altLang="zh-CN" sz="2800" dirty="0" smtClean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 smtClean="0">
                <a:latin typeface="Times New Roman" pitchFamily="18" charset="0"/>
                <a:ea typeface="楷体_GB2312" pitchFamily="49" charset="-122"/>
              </a:rPr>
              <a:t>音</a:t>
            </a:r>
            <a:r>
              <a:rPr lang="en-US" altLang="zh-CN" sz="2800" dirty="0" smtClean="0"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en-US" altLang="zh-CN" sz="2800" dirty="0" err="1" smtClean="0">
                <a:latin typeface="Times New Roman" pitchFamily="18" charset="0"/>
                <a:ea typeface="楷体_GB2312" pitchFamily="49" charset="-122"/>
              </a:rPr>
              <a:t>视频在存储或传输时都是要经过压缩的</a:t>
            </a:r>
            <a:endParaRPr lang="zh-CN" altLang="en-US" sz="2800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1142984"/>
            <a:ext cx="5000660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14290"/>
            <a:ext cx="8229600" cy="928694"/>
          </a:xfrm>
        </p:spPr>
        <p:txBody>
          <a:bodyPr>
            <a:normAutofit/>
          </a:bodyPr>
          <a:lstStyle/>
          <a:p>
            <a:pPr algn="l"/>
            <a:r>
              <a:rPr lang="zh-CN" altLang="en-US" dirty="0" smtClean="0">
                <a:latin typeface="Times New Roman" pitchFamily="18" charset="0"/>
                <a:ea typeface="楷体_GB2312" pitchFamily="49" charset="-122"/>
              </a:rPr>
              <a:t>基于网络的</a:t>
            </a:r>
            <a:r>
              <a:rPr lang="zh-CN" altLang="en-US" dirty="0" smtClean="0">
                <a:latin typeface="Times New Roman" pitchFamily="18" charset="0"/>
                <a:ea typeface="楷体_GB2312" pitchFamily="49" charset="-122"/>
              </a:rPr>
              <a:t>多媒体应用分类</a:t>
            </a:r>
            <a:endParaRPr lang="zh-CN" altLang="en-US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357298"/>
            <a:ext cx="8178800" cy="480855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流式存储音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视频：</a:t>
            </a:r>
          </a:p>
          <a:p>
            <a:pPr lvl="1"/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压缩的音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视频文件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已存储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在服务器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上，用户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边下载边播放</a:t>
            </a:r>
            <a:endParaRPr lang="en-US" altLang="zh-CN" sz="2400" dirty="0" smtClean="0">
              <a:solidFill>
                <a:srgbClr val="FF0000"/>
              </a:solidFill>
              <a:latin typeface="Times New Roman" pitchFamily="18" charset="0"/>
              <a:ea typeface="楷体_GB2312" pitchFamily="49" charset="-122"/>
            </a:endParaRPr>
          </a:p>
          <a:p>
            <a:pPr lvl="1"/>
            <a:r>
              <a:rPr lang="en-US" altLang="zh-CN" sz="2400" dirty="0" smtClean="0"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流式</a:t>
            </a:r>
            <a:r>
              <a:rPr lang="en-US" altLang="zh-CN" sz="2400" dirty="0" smtClean="0">
                <a:latin typeface="Times New Roman" pitchFamily="18" charset="0"/>
                <a:ea typeface="楷体_GB2312" pitchFamily="49" charset="-122"/>
              </a:rPr>
              <a:t>”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的含义：</a:t>
            </a:r>
            <a:r>
              <a:rPr lang="en-US" altLang="zh-CN" sz="2400" dirty="0" err="1" smtClean="0">
                <a:latin typeface="Times New Roman" pitchFamily="18" charset="0"/>
                <a:ea typeface="楷体_GB2312" pitchFamily="49" charset="-122"/>
              </a:rPr>
              <a:t>在文件下载完成前就开始播放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 lvl="1"/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用户可以暂停、倒退、快进或者检索多媒体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内容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实时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实况音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视频：</a:t>
            </a:r>
          </a:p>
          <a:p>
            <a:pPr lvl="1"/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类似于传统的电台广播和电视，只是通过因特网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传输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r>
              <a:rPr lang="zh-CN" altLang="en-US" sz="2800" dirty="0" smtClean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实时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交互音</a:t>
            </a:r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  <a:ea typeface="楷体_GB2312" pitchFamily="49" charset="-122"/>
              </a:rPr>
              <a:t>视频：</a:t>
            </a:r>
          </a:p>
          <a:p>
            <a:pPr lvl="1"/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允许人们使用音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视频进行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实时通信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  <a:p>
            <a:pPr lvl="1"/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对端到端延时的要求最高，应该小于几百</a:t>
            </a:r>
            <a:r>
              <a:rPr lang="zh-CN" altLang="en-US" sz="2400" dirty="0" smtClean="0">
                <a:latin typeface="Times New Roman" pitchFamily="18" charset="0"/>
                <a:ea typeface="楷体_GB2312" pitchFamily="49" charset="-122"/>
              </a:rPr>
              <a:t>毫秒</a:t>
            </a:r>
            <a:endParaRPr lang="zh-CN" altLang="en-US" sz="2400" dirty="0">
              <a:latin typeface="Times New Roman" pitchFamily="18" charset="0"/>
              <a:ea typeface="楷体_GB2312" pitchFamily="49" charset="-122"/>
            </a:endParaRPr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928671"/>
            <a:ext cx="6786610" cy="14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实时多媒体通信的特点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数据传输有严格的</a:t>
            </a:r>
            <a:r>
              <a:rPr lang="zh-CN" altLang="en-US" dirty="0" smtClean="0"/>
              <a:t>延迟或延迟</a:t>
            </a:r>
            <a:r>
              <a:rPr lang="zh-CN" altLang="en-US" dirty="0"/>
              <a:t>抖动上限</a:t>
            </a:r>
            <a:r>
              <a:rPr lang="zh-CN" altLang="en-US" dirty="0" smtClean="0"/>
              <a:t>要求</a:t>
            </a:r>
            <a:r>
              <a:rPr lang="zh-CN" altLang="en-US" dirty="0" smtClean="0"/>
              <a:t>：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解决延迟抖动要求数据携带时间戳，以便确定在接收端的回放时间，并且要求接收端有接收缓存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对数据有排序的要求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通常采用</a:t>
            </a:r>
            <a:r>
              <a:rPr lang="zh-CN" altLang="en-US" dirty="0"/>
              <a:t>多</a:t>
            </a:r>
            <a:r>
              <a:rPr lang="zh-CN" altLang="en-US" dirty="0" smtClean="0"/>
              <a:t>播传输方式</a:t>
            </a:r>
            <a:endParaRPr lang="zh-CN" altLang="en-US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数据流的速率可以根据可用带宽进行调节</a:t>
            </a:r>
            <a:endParaRPr lang="zh-CN" altLang="en-US" dirty="0"/>
          </a:p>
          <a:p>
            <a:pPr>
              <a:lnSpc>
                <a:spcPct val="110000"/>
              </a:lnSpc>
            </a:pPr>
            <a:r>
              <a:rPr lang="zh-CN" altLang="en-US" dirty="0"/>
              <a:t>多个数据流混合</a:t>
            </a:r>
          </a:p>
          <a:p>
            <a:endParaRPr lang="en-US" altLang="zh-CN" dirty="0"/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3" y="1071546"/>
            <a:ext cx="5643601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实时传输协议</a:t>
            </a:r>
            <a:r>
              <a:rPr lang="en-US" altLang="zh-CN" dirty="0"/>
              <a:t>RTP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500174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TCP</a:t>
            </a:r>
            <a:r>
              <a:rPr lang="zh-CN" altLang="en-US" dirty="0"/>
              <a:t>和</a:t>
            </a:r>
            <a:r>
              <a:rPr lang="en-US" altLang="zh-CN" dirty="0"/>
              <a:t>UDP</a:t>
            </a:r>
            <a:r>
              <a:rPr lang="zh-CN" altLang="en-US" dirty="0"/>
              <a:t>均</a:t>
            </a:r>
            <a:r>
              <a:rPr lang="zh-CN" altLang="en-US" dirty="0" smtClean="0"/>
              <a:t>不满足实时多媒体通信的要求：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TCP</a:t>
            </a:r>
            <a:r>
              <a:rPr lang="zh-CN" altLang="en-US" dirty="0"/>
              <a:t>支持排序，但不支持时间戳和多播</a:t>
            </a:r>
            <a:r>
              <a:rPr lang="zh-CN" altLang="en-US" dirty="0" smtClean="0"/>
              <a:t>，可靠传输机制会重传数据，拥塞控制机制不能保证传输速率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en-US" altLang="zh-CN" dirty="0"/>
              <a:t>UDP</a:t>
            </a:r>
            <a:r>
              <a:rPr lang="zh-CN" altLang="en-US" dirty="0"/>
              <a:t>支持多播，不会重传数据</a:t>
            </a:r>
            <a:r>
              <a:rPr lang="zh-CN" altLang="en-US" dirty="0" smtClean="0"/>
              <a:t>，不限制发送速率，但</a:t>
            </a:r>
            <a:r>
              <a:rPr lang="zh-CN" altLang="en-US" dirty="0"/>
              <a:t>不支持排序、时间戳和混合</a:t>
            </a:r>
            <a:r>
              <a:rPr lang="zh-CN" altLang="en-US" dirty="0" smtClean="0"/>
              <a:t>功能</a:t>
            </a:r>
            <a:endParaRPr lang="zh-CN" altLang="en-US" dirty="0"/>
          </a:p>
          <a:p>
            <a:pPr>
              <a:lnSpc>
                <a:spcPct val="11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RTP</a:t>
            </a:r>
            <a:r>
              <a:rPr lang="zh-CN" altLang="en-US" dirty="0" smtClean="0">
                <a:solidFill>
                  <a:srgbClr val="FF0000"/>
                </a:solidFill>
              </a:rPr>
              <a:t>用来</a:t>
            </a:r>
            <a:r>
              <a:rPr lang="zh-CN" altLang="en-US" dirty="0" smtClean="0">
                <a:solidFill>
                  <a:srgbClr val="FF0000"/>
                </a:solidFill>
              </a:rPr>
              <a:t>在因特网</a:t>
            </a:r>
            <a:r>
              <a:rPr lang="zh-CN" altLang="en-US" dirty="0" smtClean="0">
                <a:solidFill>
                  <a:srgbClr val="FF0000"/>
                </a:solidFill>
              </a:rPr>
              <a:t>上传输</a:t>
            </a:r>
            <a:r>
              <a:rPr lang="zh-CN" altLang="en-US" dirty="0" smtClean="0">
                <a:solidFill>
                  <a:srgbClr val="FF0000"/>
                </a:solidFill>
              </a:rPr>
              <a:t>实时</a:t>
            </a:r>
            <a:r>
              <a:rPr lang="zh-CN" altLang="en-US" dirty="0" smtClean="0">
                <a:solidFill>
                  <a:srgbClr val="FF0000"/>
                </a:solidFill>
              </a:rPr>
              <a:t>多媒体</a:t>
            </a:r>
            <a:r>
              <a:rPr lang="zh-CN" altLang="en-US" dirty="0">
                <a:solidFill>
                  <a:srgbClr val="FF0000"/>
                </a:solidFill>
              </a:rPr>
              <a:t>数据：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RTP</a:t>
            </a:r>
            <a:r>
              <a:rPr lang="zh-CN" altLang="en-US" dirty="0"/>
              <a:t>建立在</a:t>
            </a:r>
            <a:r>
              <a:rPr lang="en-US" altLang="zh-CN" dirty="0"/>
              <a:t>UDP</a:t>
            </a:r>
            <a:r>
              <a:rPr lang="zh-CN" altLang="en-US" dirty="0"/>
              <a:t>基础之上，使用</a:t>
            </a:r>
            <a:r>
              <a:rPr lang="en-US" altLang="zh-CN" dirty="0"/>
              <a:t>UDP</a:t>
            </a:r>
            <a:r>
              <a:rPr lang="zh-CN" altLang="en-US" dirty="0"/>
              <a:t>的交付</a:t>
            </a:r>
            <a:r>
              <a:rPr lang="zh-CN" altLang="en-US" dirty="0" smtClean="0"/>
              <a:t>机制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主要</a:t>
            </a:r>
            <a:r>
              <a:rPr lang="zh-CN" altLang="en-US" dirty="0"/>
              <a:t>贡献是增加了时间戳、序号及混合</a:t>
            </a:r>
            <a:r>
              <a:rPr lang="zh-CN" altLang="en-US" dirty="0" smtClean="0"/>
              <a:t>设施</a:t>
            </a:r>
            <a:endParaRPr lang="zh-CN" altLang="en-US" dirty="0"/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142984"/>
            <a:ext cx="4500594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RTP</a:t>
            </a:r>
            <a:r>
              <a:rPr lang="zh-CN" altLang="en-US" dirty="0"/>
              <a:t>在</a:t>
            </a:r>
            <a:r>
              <a:rPr lang="en-US" altLang="zh-CN" dirty="0"/>
              <a:t>TCP/IP</a:t>
            </a:r>
            <a:r>
              <a:rPr lang="zh-CN" altLang="en-US" dirty="0"/>
              <a:t>协议栈中的位置</a:t>
            </a:r>
          </a:p>
        </p:txBody>
      </p:sp>
      <p:pic>
        <p:nvPicPr>
          <p:cNvPr id="52228" name="Picture 4" descr="6-2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28596" y="1857364"/>
            <a:ext cx="8335083" cy="3071834"/>
          </a:xfrm>
          <a:noFill/>
          <a:ln/>
        </p:spPr>
      </p:pic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5" y="1071546"/>
            <a:ext cx="6929486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pPr algn="l"/>
            <a:r>
              <a:rPr lang="en-US" altLang="zh-CN" dirty="0"/>
              <a:t>RTP</a:t>
            </a:r>
            <a:r>
              <a:rPr lang="zh-CN" altLang="en-US" dirty="0"/>
              <a:t>报头格式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142984"/>
            <a:ext cx="8507413" cy="214314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200" dirty="0">
                <a:latin typeface="Times New Roman" pitchFamily="18" charset="0"/>
              </a:rPr>
              <a:t>报文序号：连续递增，用于检测不按顺序的交付或数据</a:t>
            </a:r>
            <a:r>
              <a:rPr lang="zh-CN" altLang="en-US" sz="2200" dirty="0" smtClean="0">
                <a:latin typeface="Times New Roman" pitchFamily="18" charset="0"/>
              </a:rPr>
              <a:t>丢失</a:t>
            </a:r>
            <a:endParaRPr lang="zh-CN" altLang="en-US" sz="22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200" dirty="0">
                <a:latin typeface="Times New Roman" pitchFamily="18" charset="0"/>
              </a:rPr>
              <a:t>载荷类型：指出载荷域使用的编码</a:t>
            </a:r>
            <a:r>
              <a:rPr lang="zh-CN" altLang="en-US" sz="2200" dirty="0" smtClean="0">
                <a:latin typeface="Times New Roman" pitchFamily="18" charset="0"/>
              </a:rPr>
              <a:t>算法</a:t>
            </a:r>
            <a:endParaRPr lang="zh-CN" altLang="en-US" sz="22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200" dirty="0">
                <a:latin typeface="Times New Roman" pitchFamily="18" charset="0"/>
              </a:rPr>
              <a:t>时间戳：包中第一个样本的</a:t>
            </a:r>
            <a:r>
              <a:rPr lang="zh-CN" altLang="en-US" sz="2200" dirty="0" smtClean="0">
                <a:latin typeface="Times New Roman" pitchFamily="18" charset="0"/>
              </a:rPr>
              <a:t>采样时间</a:t>
            </a:r>
            <a:endParaRPr lang="zh-CN" altLang="en-US" sz="22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200" dirty="0"/>
              <a:t>同步源标识：如果有多个数据源，则同步源为混合器，其它源为参与</a:t>
            </a:r>
            <a:r>
              <a:rPr lang="zh-CN" altLang="en-US" sz="2200" dirty="0" smtClean="0"/>
              <a:t>源</a:t>
            </a:r>
            <a:endParaRPr lang="zh-CN" altLang="en-US" sz="2200" dirty="0"/>
          </a:p>
          <a:p>
            <a:pPr>
              <a:lnSpc>
                <a:spcPct val="90000"/>
              </a:lnSpc>
            </a:pPr>
            <a:r>
              <a:rPr lang="zh-CN" altLang="en-US" sz="2200" dirty="0"/>
              <a:t>参与源标识：每个标识定义一个</a:t>
            </a:r>
            <a:r>
              <a:rPr lang="zh-CN" altLang="en-US" sz="2200" dirty="0" smtClean="0"/>
              <a:t>源</a:t>
            </a:r>
            <a:endParaRPr lang="zh-CN" altLang="en-US" sz="2200" dirty="0"/>
          </a:p>
        </p:txBody>
      </p:sp>
      <p:pic>
        <p:nvPicPr>
          <p:cNvPr id="51204" name="Picture 4" descr="6-2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3429000"/>
            <a:ext cx="7129463" cy="309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6" descr="underline_base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857232"/>
            <a:ext cx="3214709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实时传输控制协议</a:t>
            </a:r>
            <a:r>
              <a:rPr lang="en-US" altLang="zh-CN" dirty="0"/>
              <a:t>RTCP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500174"/>
            <a:ext cx="8229600" cy="4852988"/>
          </a:xfrm>
        </p:spPr>
        <p:txBody>
          <a:bodyPr>
            <a:normAutofit/>
          </a:bodyPr>
          <a:lstStyle/>
          <a:p>
            <a:r>
              <a:rPr lang="en-US" altLang="zh-CN" dirty="0"/>
              <a:t>RTCP</a:t>
            </a:r>
            <a:r>
              <a:rPr lang="zh-CN" altLang="en-US" dirty="0"/>
              <a:t>是与</a:t>
            </a:r>
            <a:r>
              <a:rPr lang="en-US" altLang="zh-CN" dirty="0"/>
              <a:t>RTP</a:t>
            </a:r>
            <a:r>
              <a:rPr lang="zh-CN" altLang="en-US" dirty="0"/>
              <a:t>配合使用的一个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r>
              <a:rPr lang="zh-CN" altLang="en-US" dirty="0" smtClean="0"/>
              <a:t>用于</a:t>
            </a:r>
            <a:r>
              <a:rPr lang="zh-CN" altLang="en-US" dirty="0"/>
              <a:t>处理反馈、同步和用户接口，但不传输任何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1071546"/>
            <a:ext cx="5715040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RTP/RTCP</a:t>
            </a:r>
            <a:r>
              <a:rPr lang="zh-CN" altLang="en-US" dirty="0"/>
              <a:t>使用的</a:t>
            </a:r>
            <a:r>
              <a:rPr lang="en-US" altLang="zh-CN" dirty="0"/>
              <a:t>UDP</a:t>
            </a:r>
            <a:r>
              <a:rPr lang="zh-CN" altLang="en-US" dirty="0"/>
              <a:t>端口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RTP</a:t>
            </a:r>
            <a:r>
              <a:rPr lang="zh-CN" altLang="en-US" dirty="0"/>
              <a:t>和</a:t>
            </a:r>
            <a:r>
              <a:rPr lang="en-US" altLang="zh-CN" dirty="0"/>
              <a:t>RTCP</a:t>
            </a:r>
            <a:r>
              <a:rPr lang="zh-CN" altLang="en-US" dirty="0"/>
              <a:t>是应用层上的协议，但与其它应用程序不同，它们不使用熟知</a:t>
            </a:r>
            <a:r>
              <a:rPr lang="zh-CN" altLang="en-US" dirty="0" smtClean="0"/>
              <a:t>端口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RTP</a:t>
            </a:r>
            <a:r>
              <a:rPr lang="zh-CN" altLang="en-US" dirty="0"/>
              <a:t>使用偶数的临时端口</a:t>
            </a:r>
            <a:r>
              <a:rPr lang="zh-CN" altLang="en-US" dirty="0" smtClean="0"/>
              <a:t>号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en-US" altLang="zh-CN" dirty="0"/>
              <a:t>RTCP</a:t>
            </a:r>
            <a:r>
              <a:rPr lang="zh-CN" altLang="en-US" dirty="0"/>
              <a:t>使用奇数的临时端口号，且比</a:t>
            </a:r>
            <a:r>
              <a:rPr lang="en-US" altLang="zh-CN" dirty="0"/>
              <a:t>RTP</a:t>
            </a:r>
            <a:r>
              <a:rPr lang="zh-CN" altLang="en-US" dirty="0"/>
              <a:t>的端口号大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71546"/>
            <a:ext cx="7313613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流式存储音</a:t>
            </a:r>
            <a:r>
              <a:rPr lang="en-US" altLang="zh-CN" dirty="0"/>
              <a:t>/</a:t>
            </a:r>
            <a:r>
              <a:rPr lang="zh-CN" altLang="en-US" dirty="0" smtClean="0"/>
              <a:t>视频应用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基本过程：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客户机请求存储在服务器上的音</a:t>
            </a:r>
            <a:r>
              <a:rPr lang="en-US" altLang="zh-CN" dirty="0"/>
              <a:t>/</a:t>
            </a:r>
            <a:r>
              <a:rPr lang="zh-CN" altLang="en-US" dirty="0"/>
              <a:t>视频</a:t>
            </a:r>
            <a:r>
              <a:rPr lang="zh-CN" altLang="en-US" dirty="0" smtClean="0"/>
              <a:t>文件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服务器将音</a:t>
            </a:r>
            <a:r>
              <a:rPr lang="en-US" altLang="zh-CN" dirty="0"/>
              <a:t>/</a:t>
            </a:r>
            <a:r>
              <a:rPr lang="zh-CN" altLang="en-US" dirty="0"/>
              <a:t>视频文件发送到客户指定的一个套接</a:t>
            </a:r>
            <a:r>
              <a:rPr lang="zh-CN" altLang="en-US" dirty="0" smtClean="0"/>
              <a:t>字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客户机使用媒体播放器播放音</a:t>
            </a:r>
            <a:r>
              <a:rPr lang="en-US" altLang="zh-CN" dirty="0"/>
              <a:t>/</a:t>
            </a:r>
            <a:r>
              <a:rPr lang="zh-CN" altLang="en-US" dirty="0"/>
              <a:t>视频</a:t>
            </a:r>
            <a:r>
              <a:rPr lang="zh-CN" altLang="en-US" dirty="0" smtClean="0"/>
              <a:t>文件</a:t>
            </a:r>
            <a:endParaRPr lang="zh-CN" altLang="en-US" dirty="0"/>
          </a:p>
          <a:p>
            <a:pPr lvl="1">
              <a:lnSpc>
                <a:spcPct val="110000"/>
              </a:lnSpc>
            </a:pPr>
            <a:r>
              <a:rPr lang="zh-CN" altLang="en-US" dirty="0"/>
              <a:t>通常采用</a:t>
            </a:r>
            <a:r>
              <a:rPr lang="en-US" altLang="zh-CN" dirty="0"/>
              <a:t>RTP</a:t>
            </a:r>
            <a:r>
              <a:rPr lang="zh-CN" altLang="en-US" dirty="0"/>
              <a:t>协议传输音</a:t>
            </a:r>
            <a:r>
              <a:rPr lang="en-US" altLang="zh-CN" dirty="0"/>
              <a:t>/</a:t>
            </a:r>
            <a:r>
              <a:rPr lang="zh-CN" altLang="en-US" dirty="0"/>
              <a:t>视频文件，采用</a:t>
            </a:r>
            <a:r>
              <a:rPr lang="en-US" altLang="zh-CN" dirty="0"/>
              <a:t>RTSP</a:t>
            </a:r>
            <a:r>
              <a:rPr lang="zh-CN" altLang="en-US" dirty="0"/>
              <a:t>（</a:t>
            </a:r>
            <a:r>
              <a:rPr lang="en-US" altLang="zh-CN" dirty="0"/>
              <a:t>Real-Time Streaming Protocol</a:t>
            </a:r>
            <a:r>
              <a:rPr lang="zh-CN" altLang="en-US" dirty="0"/>
              <a:t>）协议提供交互性</a:t>
            </a:r>
            <a:r>
              <a:rPr lang="zh-CN" altLang="en-US" dirty="0" smtClean="0"/>
              <a:t>操作</a:t>
            </a:r>
            <a:endParaRPr lang="zh-CN" altLang="en-US" dirty="0"/>
          </a:p>
          <a:p>
            <a:endParaRPr lang="en-US" altLang="zh-CN" dirty="0"/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071546"/>
            <a:ext cx="7313613" cy="17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 smtClean="0"/>
              <a:t>实现：使用</a:t>
            </a:r>
            <a:r>
              <a:rPr lang="zh-CN" altLang="en-US" dirty="0"/>
              <a:t>媒体服务器和</a:t>
            </a:r>
            <a:r>
              <a:rPr lang="en-US" altLang="zh-CN" dirty="0"/>
              <a:t>RTSP</a:t>
            </a:r>
          </a:p>
        </p:txBody>
      </p:sp>
      <p:pic>
        <p:nvPicPr>
          <p:cNvPr id="107524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28794" y="1357298"/>
            <a:ext cx="4264025" cy="4967287"/>
          </a:xfrm>
          <a:noFill/>
          <a:ln/>
        </p:spPr>
      </p:pic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071546"/>
            <a:ext cx="7500990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因特网广播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500174"/>
            <a:ext cx="8229600" cy="478155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sz="3000" dirty="0">
                <a:latin typeface="Times New Roman" pitchFamily="18" charset="0"/>
              </a:rPr>
              <a:t>在实际的因特网广播实现中，每个客户与电台建立一条单独的</a:t>
            </a:r>
            <a:r>
              <a:rPr lang="en-US" altLang="zh-CN" sz="3000" dirty="0">
                <a:latin typeface="Times New Roman" pitchFamily="18" charset="0"/>
              </a:rPr>
              <a:t>TCP</a:t>
            </a:r>
            <a:r>
              <a:rPr lang="zh-CN" altLang="en-US" sz="3000" dirty="0">
                <a:latin typeface="Times New Roman" pitchFamily="18" charset="0"/>
              </a:rPr>
              <a:t>连接，然后在</a:t>
            </a:r>
            <a:r>
              <a:rPr lang="en-US" altLang="zh-CN" sz="3000" dirty="0">
                <a:latin typeface="Times New Roman" pitchFamily="18" charset="0"/>
              </a:rPr>
              <a:t>TCP</a:t>
            </a:r>
            <a:r>
              <a:rPr lang="zh-CN" altLang="en-US" sz="3000" dirty="0">
                <a:latin typeface="Times New Roman" pitchFamily="18" charset="0"/>
              </a:rPr>
              <a:t>连接上传输音频</a:t>
            </a:r>
            <a:r>
              <a:rPr lang="zh-CN" altLang="en-US" sz="3000" dirty="0" smtClean="0">
                <a:latin typeface="Times New Roman" pitchFamily="18" charset="0"/>
              </a:rPr>
              <a:t>数据</a:t>
            </a:r>
            <a:endParaRPr lang="zh-CN" altLang="en-US" sz="3000" dirty="0">
              <a:latin typeface="Times New Roman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000" dirty="0">
                <a:latin typeface="Times New Roman" pitchFamily="18" charset="0"/>
              </a:rPr>
              <a:t>因特网广播采用</a:t>
            </a:r>
            <a:r>
              <a:rPr lang="en-US" altLang="zh-CN" sz="3000" dirty="0">
                <a:latin typeface="Times New Roman" pitchFamily="18" charset="0"/>
              </a:rPr>
              <a:t>TCP</a:t>
            </a:r>
            <a:r>
              <a:rPr lang="zh-CN" altLang="en-US" sz="3000" dirty="0">
                <a:latin typeface="Times New Roman" pitchFamily="18" charset="0"/>
              </a:rPr>
              <a:t>单播而不是</a:t>
            </a:r>
            <a:r>
              <a:rPr lang="en-US" altLang="zh-CN" sz="3000" dirty="0">
                <a:latin typeface="Times New Roman" pitchFamily="18" charset="0"/>
              </a:rPr>
              <a:t>RTP</a:t>
            </a:r>
            <a:r>
              <a:rPr lang="zh-CN" altLang="en-US" sz="3000" dirty="0">
                <a:latin typeface="Times New Roman" pitchFamily="18" charset="0"/>
              </a:rPr>
              <a:t>多播的原因：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Times New Roman" pitchFamily="18" charset="0"/>
              </a:rPr>
              <a:t>许多</a:t>
            </a:r>
            <a:r>
              <a:rPr lang="en-US" altLang="zh-CN" dirty="0">
                <a:latin typeface="Times New Roman" pitchFamily="18" charset="0"/>
              </a:rPr>
              <a:t>ISP</a:t>
            </a:r>
            <a:r>
              <a:rPr lang="zh-CN" altLang="en-US" dirty="0">
                <a:latin typeface="Times New Roman" pitchFamily="18" charset="0"/>
              </a:rPr>
              <a:t>不支持多播</a:t>
            </a:r>
          </a:p>
          <a:p>
            <a:pPr lvl="1">
              <a:lnSpc>
                <a:spcPct val="110000"/>
              </a:lnSpc>
            </a:pPr>
            <a:r>
              <a:rPr lang="en-US" altLang="zh-CN" dirty="0">
                <a:latin typeface="Times New Roman" pitchFamily="18" charset="0"/>
              </a:rPr>
              <a:t>TCP</a:t>
            </a:r>
            <a:r>
              <a:rPr lang="zh-CN" altLang="en-US" dirty="0">
                <a:latin typeface="Times New Roman" pitchFamily="18" charset="0"/>
              </a:rPr>
              <a:t>已被广泛应用并被所有的软件包支持，而</a:t>
            </a:r>
            <a:r>
              <a:rPr lang="en-US" altLang="zh-CN" dirty="0">
                <a:latin typeface="Times New Roman" pitchFamily="18" charset="0"/>
              </a:rPr>
              <a:t>RTP</a:t>
            </a:r>
            <a:r>
              <a:rPr lang="zh-CN" altLang="en-US" dirty="0">
                <a:latin typeface="Times New Roman" pitchFamily="18" charset="0"/>
              </a:rPr>
              <a:t>却陌生得多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Times New Roman" pitchFamily="18" charset="0"/>
              </a:rPr>
              <a:t>许多系统的防火墙仅允许某些熟知端口的</a:t>
            </a:r>
            <a:r>
              <a:rPr lang="en-US" altLang="zh-CN" dirty="0">
                <a:latin typeface="Times New Roman" pitchFamily="18" charset="0"/>
              </a:rPr>
              <a:t>TCP</a:t>
            </a:r>
            <a:r>
              <a:rPr lang="zh-CN" altLang="en-US" dirty="0">
                <a:latin typeface="Times New Roman" pitchFamily="18" charset="0"/>
              </a:rPr>
              <a:t>包和</a:t>
            </a:r>
            <a:r>
              <a:rPr lang="en-US" altLang="zh-CN" dirty="0">
                <a:latin typeface="Times New Roman" pitchFamily="18" charset="0"/>
              </a:rPr>
              <a:t>UDP</a:t>
            </a:r>
            <a:r>
              <a:rPr lang="zh-CN" altLang="en-US" dirty="0">
                <a:latin typeface="Times New Roman" pitchFamily="18" charset="0"/>
              </a:rPr>
              <a:t>包通过，携带</a:t>
            </a:r>
            <a:r>
              <a:rPr lang="en-US" altLang="zh-CN" dirty="0">
                <a:latin typeface="Times New Roman" pitchFamily="18" charset="0"/>
              </a:rPr>
              <a:t>RTP</a:t>
            </a:r>
            <a:r>
              <a:rPr lang="zh-CN" altLang="en-US" dirty="0">
                <a:latin typeface="Times New Roman" pitchFamily="18" charset="0"/>
              </a:rPr>
              <a:t>报文的</a:t>
            </a:r>
            <a:r>
              <a:rPr lang="en-US" altLang="zh-CN" dirty="0">
                <a:latin typeface="Times New Roman" pitchFamily="18" charset="0"/>
              </a:rPr>
              <a:t>UDP</a:t>
            </a:r>
            <a:r>
              <a:rPr lang="zh-CN" altLang="en-US" dirty="0">
                <a:latin typeface="Times New Roman" pitchFamily="18" charset="0"/>
              </a:rPr>
              <a:t>包通常会被</a:t>
            </a:r>
            <a:r>
              <a:rPr lang="zh-CN" altLang="en-US" dirty="0" smtClean="0">
                <a:latin typeface="Times New Roman" pitchFamily="18" charset="0"/>
              </a:rPr>
              <a:t>过滤</a:t>
            </a:r>
            <a:endParaRPr lang="zh-CN" altLang="en-US" dirty="0">
              <a:latin typeface="Times New Roman" pitchFamily="18" charset="0"/>
            </a:endParaRPr>
          </a:p>
        </p:txBody>
      </p:sp>
      <p:pic>
        <p:nvPicPr>
          <p:cNvPr id="4" name="Picture 16" descr="underline_base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1071546"/>
            <a:ext cx="2928957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Times New Roman" pitchFamily="18" charset="0"/>
              </a:rPr>
              <a:t>实时交互式音</a:t>
            </a:r>
            <a:r>
              <a:rPr lang="en-US" altLang="zh-CN" dirty="0">
                <a:latin typeface="Times New Roman" pitchFamily="18" charset="0"/>
              </a:rPr>
              <a:t>/</a:t>
            </a:r>
            <a:r>
              <a:rPr lang="zh-CN" altLang="en-US" dirty="0">
                <a:latin typeface="Times New Roman" pitchFamily="18" charset="0"/>
              </a:rPr>
              <a:t>视频应用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7158" y="1571612"/>
            <a:ext cx="2674938" cy="4060825"/>
          </a:xfrm>
        </p:spPr>
        <p:txBody>
          <a:bodyPr/>
          <a:lstStyle/>
          <a:p>
            <a:r>
              <a:rPr lang="zh-CN" altLang="en-US" sz="2400" dirty="0"/>
              <a:t>需要一个会话控制协议，负责在会话的双方之间建立、管理和终止呼叫</a:t>
            </a:r>
            <a:r>
              <a:rPr lang="zh-CN" altLang="en-US" sz="2400" dirty="0" smtClean="0"/>
              <a:t>连接</a:t>
            </a:r>
            <a:endParaRPr lang="en-US" altLang="zh-CN" sz="2400" dirty="0" smtClean="0"/>
          </a:p>
          <a:p>
            <a:r>
              <a:rPr lang="en-US" altLang="zh-CN" sz="2400" dirty="0" smtClean="0"/>
              <a:t>SIP</a:t>
            </a:r>
            <a:r>
              <a:rPr lang="zh-CN" altLang="en-US" sz="2400" dirty="0"/>
              <a:t>和</a:t>
            </a:r>
            <a:r>
              <a:rPr lang="en-US" altLang="zh-CN" sz="2400" dirty="0" smtClean="0"/>
              <a:t>H.323</a:t>
            </a:r>
            <a:r>
              <a:rPr lang="zh-CN" altLang="en-US" sz="2400" dirty="0" smtClean="0"/>
              <a:t>是</a:t>
            </a:r>
            <a:r>
              <a:rPr lang="zh-CN" altLang="en-US" sz="2400" smtClean="0"/>
              <a:t>常用的两个会话控制协议</a:t>
            </a:r>
            <a:endParaRPr lang="zh-CN" altLang="en-US" sz="2400" dirty="0"/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3059113" y="1484313"/>
          <a:ext cx="6084887" cy="5035550"/>
        </p:xfrm>
        <a:graphic>
          <a:graphicData uri="http://schemas.openxmlformats.org/presentationml/2006/ole">
            <p:oleObj spid="_x0000_s1026" name="Visio" r:id="rId3" imgW="4756144" imgH="3934713" progId="Visio.Drawing.11">
              <p:embed/>
            </p:oleObj>
          </a:graphicData>
        </a:graphic>
      </p:graphicFrame>
      <p:pic>
        <p:nvPicPr>
          <p:cNvPr id="5" name="Picture 16" descr="underline_base"/>
          <p:cNvPicPr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1071546"/>
            <a:ext cx="5929353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873</Words>
  <Application>Microsoft Office PowerPoint</Application>
  <PresentationFormat>全屏显示(4:3)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Office 主题</vt:lpstr>
      <vt:lpstr>Visio</vt:lpstr>
      <vt:lpstr>幻灯片 1</vt:lpstr>
      <vt:lpstr>什么是多媒体应用？</vt:lpstr>
      <vt:lpstr>基于网络的多媒体应用分类</vt:lpstr>
      <vt:lpstr>实时多媒体通信的特点</vt:lpstr>
      <vt:lpstr>实时传输协议RTP</vt:lpstr>
      <vt:lpstr>RTP在TCP/IP协议栈中的位置</vt:lpstr>
      <vt:lpstr>RTP报头格式</vt:lpstr>
      <vt:lpstr>实时传输控制协议RTCP</vt:lpstr>
      <vt:lpstr>RTP/RTCP使用的UDP端口</vt:lpstr>
      <vt:lpstr>流式存储音/视频应用</vt:lpstr>
      <vt:lpstr>实现：使用媒体服务器和RTSP</vt:lpstr>
      <vt:lpstr>因特网广播</vt:lpstr>
      <vt:lpstr>实时交互式音/视频应用</vt:lpstr>
    </vt:vector>
  </TitlesOfParts>
  <Company>ustc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ustc</dc:creator>
  <cp:lastModifiedBy>ustc</cp:lastModifiedBy>
  <cp:revision>19</cp:revision>
  <dcterms:created xsi:type="dcterms:W3CDTF">2015-11-21T05:36:29Z</dcterms:created>
  <dcterms:modified xsi:type="dcterms:W3CDTF">2017-11-20T14:52:06Z</dcterms:modified>
</cp:coreProperties>
</file>